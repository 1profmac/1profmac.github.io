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house line. Pause. Do not rush. You are talking to a capable adult.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this map. Lesson 2 is the win. Lesson 3 is the lock. Do not add a fourth lesson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of those are good reasons. No experience needed. One device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numbers is enough if you are short on time: 90% smartphone, 18% to 30% generative AI. Beginner is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long Welcome script. This slide is the chapter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five seconds. This is the 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their mind goes blank: 'I feel behind. Give me three ways an adult my age can use AI this week without sharing private information.'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real screen after this card. ChatGPT Free or Copilot if it is already on the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Health, money, and the law are drafts. Verify with a qualified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 live at 150% zoom. Then follow up: Make the second dinner even simpler. One 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follow-up is the skill. You are not being rude. You are steering.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scare them for sport. Frightened people send money. Clear people hang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dollars exploded because a smaller number of scams take life-changing amounts. They are not the punchline.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cleaned up the spelling. 'No typos' is no longer a safety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Gift cards, wire, crypto ATM, courier, remote access = stop. The FTC is tired of 'move money to protect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 FTC will never threaten you, tell you to move money to protect it, or demand gift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impostors still pose as companies and agencies, not family. Guard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CISA: any second lock is better than none. Anyone who asks you to read the code is a scammer — FTC.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moral failure. Recovery is not a promise. Silence is a guarantee of no 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this. Photograph it. This is the whole lesson on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invented urgency. We do not sell like the people we just taught them to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2752E"/>
                </a:solidFill>
                <a:latin typeface="Arial"/>
              </a:rPr>
              <a:t>FREE LESSONS  ·  1 OF 3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You're not bad at technology.</a:t>
            </a:r>
          </a:p>
          <a:p>
            <a:pPr algn="l">
              <a:spcAft>
                <a:spcPts val="800"/>
              </a:spcAft>
            </a:pPr>
            <a:r>
              <a:rPr sz="3200" b="0">
                <a:solidFill>
                  <a:srgbClr val="C8DFF0"/>
                </a:solidFill>
                <a:latin typeface="Arial"/>
              </a:rPr>
              <a:t>You've just never had the right teacher.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A3DC"/>
                </a:solidFill>
                <a:latin typeface="Arial"/>
              </a:rPr>
              <a:t>Welcome  →  Talk to AI  →  Don't get scammed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AB0C0"/>
                </a:solidFill>
                <a:latin typeface="Arial"/>
              </a:rPr>
              <a:t>50+TechBridge  ·  Learn More Technologies  ·  Always 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83655"/>
                </a:solidFill>
                <a:latin typeface="Arial"/>
              </a:rPr>
              <a:t>The map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Three lessons. One job each. Belong  →  Do  →  Protect.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11880" cy="41148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 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You belong here.
You are not too late.
Write one real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54480"/>
            <a:ext cx="3611880" cy="4114800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  Talk to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One tool.
One real question.
One useful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611880" cy="41148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  Don't get scammed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83464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Spot a fake.
Name the pressure.
Lock passwords and 2FA.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2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83655"/>
                </a:solidFill>
                <a:latin typeface="Arial"/>
              </a:rPr>
              <a:t>This is for you if…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D4A5C"/>
                </a:solidFill>
                <a:latin typeface="Arial"/>
              </a:rPr>
              <a:t>•  The phone keeps changing and you are tired of feeling behind.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D4A5C"/>
                </a:solidFill>
                <a:latin typeface="Arial"/>
              </a:rPr>
              <a:t>•  You want to stay useful at work — or find work — and the ads all say AI.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D4A5C"/>
                </a:solidFill>
                <a:latin typeface="Arial"/>
              </a:rPr>
              <a:t>•  You want to see a grandchild's face and not miss the button.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D4A5C"/>
                </a:solidFill>
                <a:latin typeface="Arial"/>
              </a:rPr>
              <a:t>•  You are done being the person who 'should have known' about a scam text.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D4A5C"/>
                </a:solidFill>
                <a:latin typeface="Arial"/>
              </a:rPr>
              <a:t>•  Someone you love sent you the link and said, just try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3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You are not starting from zero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AB0C0"/>
                </a:solidFill>
                <a:latin typeface="Arial"/>
              </a:rPr>
              <a:t>AARP research, adults 50+  ·  Say the source on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11880" cy="32918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E2752E"/>
                </a:solidFill>
                <a:latin typeface="Arial"/>
              </a:rP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own a smartphone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611880" cy="32918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E2752E"/>
                </a:solidFill>
                <a:latin typeface="Arial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have used generative AI (up from 18% last year)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611880" cy="32918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E2752E"/>
                </a:solidFill>
                <a:latin typeface="Arial"/>
              </a:rPr>
              <a:t>8 in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661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have used some form of AI already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4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1</a:t>
            </a:r>
          </a:p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Welcome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C8DFF0"/>
                </a:solidFill>
                <a:latin typeface="Arial"/>
              </a:rPr>
              <a:t>You belong here. You are not too 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2752E"/>
                </a:solidFill>
                <a:latin typeface="Arial"/>
              </a:rPr>
              <a:t>FRIDGE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083655"/>
                </a:solidFill>
                <a:latin typeface="Arial"/>
              </a:rPr>
              <a:t>You are not too late.</a:t>
            </a:r>
          </a:p>
          <a:p>
            <a:pPr algn="ctr">
              <a:spcAft>
                <a:spcPts val="800"/>
              </a:spcAft>
            </a:pPr>
            <a:r>
              <a:rPr sz="3200" b="0">
                <a:solidFill>
                  <a:srgbClr val="3D4A5C"/>
                </a:solidFill>
                <a:latin typeface="Arial"/>
              </a:rPr>
              <a:t>You just needed the right teacher.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6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83655"/>
                </a:solidFill>
                <a:latin typeface="Arial"/>
              </a:rPr>
              <a:t>Do this before Lesson 2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Write one real question from your life this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I have chicken, rice, and spinach. Give me three easy dinners.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Help me write a polite email to my HOA about the parking.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Explain this doctor's note in plain English. I covered the name.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D4A5C"/>
                </a:solidFill>
                <a:latin typeface="Arial"/>
              </a:rPr>
              <a:t>•  I am applying for a job. Give me ten interview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Sticky note. Photograph it. That is your ticket.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7  / 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A3DC"/>
                </a:solidFill>
                <a:latin typeface="Arial"/>
              </a:rPr>
              <a:t>LESSON 2</a:t>
            </a:r>
          </a:p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Talk to AI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C8DFF0"/>
                </a:solidFill>
                <a:latin typeface="Arial"/>
              </a:rPr>
              <a:t>One tool. One real question. One useful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8  / 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83655"/>
                </a:solidFill>
                <a:latin typeface="Arial"/>
              </a:rPr>
              <a:t>Before anyone types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Put this on screen. Do not skip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Social Security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6276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Bank, card, Medicare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679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758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Passwords or phone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730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146304" cy="960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083655"/>
                </a:solidFill>
                <a:latin typeface="Arial"/>
              </a:rPr>
              <a:t>Someone else's private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7823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9  / 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The only pattern you need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00A3DC"/>
                </a:solidFill>
                <a:latin typeface="Arial"/>
              </a:rPr>
              <a:t>Situation  +  Ask  + 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"I am 68. I cook for two. I have leftover roast chicken, rice, and spinach. Give me three easy dinners. No spicy food. For each dinner, list extra ingredients and the steps in short sentences."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FF0"/>
                </a:solidFill>
                <a:latin typeface="Arial"/>
              </a:rPr>
              <a:t>Weak:  "dinners"        Strong:  who you are, what you have, what you want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10  / 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083655"/>
                </a:solidFill>
                <a:latin typeface="Arial"/>
              </a:rPr>
              <a:t>A useful answer — and how to steer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A useful answer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I understand it.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I could do the next step.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Nothing private was required.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FF0"/>
                </a:solidFill>
                <a:latin typeface="Arial"/>
              </a:rPr>
              <a:t>If it sounds too sure, check the number or the 'always.'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88720"/>
            <a:ext cx="5349240" cy="457200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3DC"/>
                </a:solidFill>
                <a:latin typeface="Arial"/>
              </a:rPr>
              <a:t>Follow-ups that work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Make that simpler.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Give me three options.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I have 15 minutes. Cut this down.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Explain the second step like I have never done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11  / 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3</a:t>
            </a:r>
          </a:p>
          <a:p>
            <a:pPr algn="l">
              <a:spcAft>
                <a:spcPts val="80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Don't get scammed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C8DFF0"/>
                </a:solidFill>
                <a:latin typeface="Arial"/>
              </a:rPr>
              <a:t>Spot a fake. Name the pressure. Lock the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12  / 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83655"/>
                </a:solidFill>
                <a:latin typeface="Arial"/>
              </a:rPr>
              <a:t>The headlines — and the line they skip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A5C"/>
                </a:solidFill>
                <a:latin typeface="Arial"/>
              </a:rPr>
              <a:t>FTC and FBI are different report piles. Name the source. Do not add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0" cy="429768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2752E"/>
                </a:solidFill>
                <a:latin typeface="Arial"/>
              </a:rPr>
              <a:t>FTC  ·  adults 60+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$2.4 billion reported lost in 2024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FF0"/>
                </a:solidFill>
                <a:latin typeface="Arial"/>
              </a:rPr>
              <a:t>About 4× the 2020 figure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65BD53"/>
                </a:solidFill>
                <a:latin typeface="Arial"/>
              </a:rPr>
              <a:t>About 3 in 4 who reported a scam lost no money. They spotted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17320"/>
            <a:ext cx="5349240" cy="429768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A3DC"/>
                </a:solidFill>
                <a:latin typeface="Arial"/>
              </a:rPr>
              <a:t>FBI IC3  ·  over 60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Nearly $5 billion in 2024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FF0"/>
                </a:solidFill>
                <a:latin typeface="Arial"/>
              </a:rPr>
              <a:t>Most complaints of any age group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Investment schemes took the most money. Fake tech support took almost a billion.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13  / 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83655"/>
                </a:solidFill>
                <a:latin typeface="Arial"/>
              </a:rPr>
              <a:t>Skill 1  ·  Spot a fake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5321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46304" cy="2103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83655"/>
                </a:solidFill>
                <a:latin typeface="Arial"/>
              </a:rPr>
              <a:t>Who started this?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If you did not start the conversation, slow 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321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146304" cy="2103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83655"/>
                </a:solidFill>
                <a:latin typeface="Arial"/>
              </a:rPr>
              <a:t>Does the address look odd?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Look at the real email, not the logo.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55321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46304" cy="2103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83655"/>
                </a:solidFill>
                <a:latin typeface="Arial"/>
              </a:rPr>
              <a:t>Are they sending you somewhere?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Link, QR code, or a number they provided.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20440"/>
            <a:ext cx="55321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520440"/>
            <a:ext cx="146304" cy="210312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83655"/>
                </a:solidFill>
                <a:latin typeface="Arial"/>
              </a:rPr>
              <a:t>Would they already know your name?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'Dear Customer' from your bank is a tell.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14  / 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Skill 2  ·  Name the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240280" cy="438912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508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Hurry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74320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Twenty minutes or you are arrested.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280160"/>
            <a:ext cx="2240280" cy="438912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208" y="1508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274320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Warrant. Virus. Grandchild in jail.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80160"/>
            <a:ext cx="2240280" cy="438912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508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Secrecy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274320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Don't tell your spouse or the teller.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280160"/>
            <a:ext cx="2240280" cy="438912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648" y="1508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Authority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274320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Badge. Caller ID. Case number. Costume.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280160"/>
            <a:ext cx="2240280" cy="438912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1508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Protect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0656" y="274320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Never move money to protect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15  / 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083655"/>
                </a:solidFill>
                <a:latin typeface="Arial"/>
              </a:rPr>
              <a:t>Hang up.</a:t>
            </a:r>
          </a:p>
          <a:p>
            <a:pPr algn="ctr">
              <a:spcAft>
                <a:spcPts val="800"/>
              </a:spcAft>
            </a:pPr>
            <a:r>
              <a:rPr sz="4400" b="1">
                <a:solidFill>
                  <a:srgbClr val="083655"/>
                </a:solidFill>
                <a:latin typeface="Arial"/>
              </a:rPr>
              <a:t>Look up.</a:t>
            </a:r>
          </a:p>
          <a:p>
            <a:pPr algn="ctr">
              <a:spcAft>
                <a:spcPts val="800"/>
              </a:spcAft>
            </a:pPr>
            <a:r>
              <a:rPr sz="4400" b="1">
                <a:solidFill>
                  <a:srgbClr val="E2752E"/>
                </a:solidFill>
                <a:latin typeface="Arial"/>
              </a:rPr>
              <a:t>Call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3D4A5C"/>
                </a:solidFill>
                <a:latin typeface="Arial"/>
              </a:rPr>
              <a:t>Use the number on the statement or the back of the card — not the number in the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16  / 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A familiar voice is no longer proof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FF0"/>
                </a:solidFill>
                <a:latin typeface="Arial"/>
              </a:rPr>
              <a:t>AARP: most adults 50+ already worry about cloned voices. Pick a family code word this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64240" cy="384048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Family code word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Known only to your people. Never posted online.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Used when money or panic shows up.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If they don't know it — hang up. Then dial the number in your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17  /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83655"/>
                </a:solidFill>
                <a:latin typeface="Arial"/>
              </a:rPr>
              <a:t>Skill 3  ·  Passwords and the second 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0" cy="466344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NIST, in plain English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Longer is better — aim for 15+ characters.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 phrase beats P@ssw0rd!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Email password ≠ bank password.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 notebook in a drawer is allowed.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5349240" cy="4663440"/>
          </a:xfrm>
          <a:prstGeom prst="rect">
            <a:avLst/>
          </a:prstGeom>
          <a:solidFill>
            <a:srgbClr val="2B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A3DC"/>
                </a:solidFill>
                <a:latin typeface="Arial"/>
              </a:rPr>
              <a:t>2FA  ·  two-factor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Password + something you have.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Turn it on: email first, then the bank.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Settings → Security → 2-step / multifactor.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E2752E"/>
                </a:solidFill>
                <a:latin typeface="Arial"/>
              </a:rPr>
              <a:t>Never read that code to anyone.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18  /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083655"/>
                </a:solidFill>
                <a:latin typeface="Arial"/>
              </a:rPr>
              <a:t>If money already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D4A5C"/>
                </a:solidFill>
                <a:latin typeface="Arial"/>
              </a:rPr>
              <a:t>1   Stop sending.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D4A5C"/>
                </a:solidFill>
                <a:latin typeface="Arial"/>
              </a:rPr>
              <a:t>2   Call the bank — number on the card.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D4A5C"/>
                </a:solidFill>
                <a:latin typeface="Arial"/>
              </a:rPr>
              <a:t>3   Say wire / gift card / crypto ATM if that is what you used.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D4A5C"/>
                </a:solidFill>
                <a:latin typeface="Arial"/>
              </a:rPr>
              <a:t>4   Change the email password. Turn on 2FA.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D4A5C"/>
                </a:solidFill>
                <a:latin typeface="Arial"/>
              </a:rPr>
              <a:t>5   Report:  reportfraud.ftc.gov   and   ic3.gov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D4A5C"/>
                </a:solidFill>
                <a:latin typeface="Arial"/>
              </a:rPr>
              <a:t>6   Tell one trusted person. Shame helps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19  / 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2752E"/>
                </a:solidFill>
                <a:latin typeface="Arial"/>
              </a:rPr>
              <a:t>FRIDGE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Unexpected  +  hurry</a:t>
            </a:r>
          </a:p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+  money or a code</a:t>
            </a:r>
          </a:p>
          <a:p>
            <a:pPr algn="ctr">
              <a:spcAft>
                <a:spcPts val="800"/>
              </a:spcAft>
            </a:pPr>
            <a:r>
              <a:rPr sz="4000" b="1">
                <a:solidFill>
                  <a:srgbClr val="E2752E"/>
                </a:solidFill>
                <a:latin typeface="Arial"/>
              </a:rPr>
              <a:t>=  hang up and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20  /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83655"/>
                </a:solidFill>
                <a:latin typeface="Arial"/>
              </a:rPr>
              <a:t>Do this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46304" cy="10241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99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Write one real question on a sticky note.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642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46304" cy="1024128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42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Ask it in one tool. Screenshot the useful answer.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110642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46304" cy="1024128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Lesson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85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Turn on 2FA on email. Set a family code word.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10642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46304" cy="1024128"/>
          </a:xfrm>
          <a:prstGeom prst="rect">
            <a:avLst/>
          </a:prstGeom>
          <a:solidFill>
            <a:srgbClr val="00A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2752E"/>
                </a:solidFill>
                <a:latin typeface="Arial"/>
              </a:rPr>
              <a:t>Always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280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83655"/>
                </a:solidFill>
                <a:latin typeface="Arial"/>
              </a:rPr>
              <a:t>Hang up. Look up. Call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B6B7C"/>
                </a:solidFill>
                <a:latin typeface="Arial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>
                <a:solidFill>
                  <a:srgbClr val="C8DFF0"/>
                </a:solidFill>
                <a:latin typeface="Arial"/>
              </a:rPr>
              <a:t>Digital independence is not a privilege.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It is your right.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E2752E"/>
                </a:solidFill>
                <a:latin typeface="Arial"/>
              </a:rPr>
              <a:t>You're not too 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A3DC"/>
                </a:solidFill>
                <a:latin typeface="Arial"/>
              </a:rPr>
              <a:t>learnmoretechnologies.com/start-free-lesson/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AB0C0"/>
                </a:solidFill>
                <a:latin typeface="Arial"/>
              </a:rPr>
              <a:t>hello@learnmoretechnologies.com  ·  reportfraud.ftc.gov  ·  ic3.gov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50+TechBridge  ·  Free Lessons  ·  Always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9AB0C0"/>
                </a:solidFill>
                <a:latin typeface="Arial"/>
              </a:rPr>
              <a:t>22  /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